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4" r:id="rId7"/>
    <p:sldId id="260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1"/>
    <p:restoredTop sz="94719"/>
  </p:normalViewPr>
  <p:slideViewPr>
    <p:cSldViewPr snapToGrid="0">
      <p:cViewPr>
        <p:scale>
          <a:sx n="135" d="100"/>
          <a:sy n="135" d="100"/>
        </p:scale>
        <p:origin x="3800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D94B-45BB-5271-1994-26EA9271F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080621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IN" dirty="0"/>
              <a:t>The Dynamic Neuro-Symbolic Agent: </a:t>
            </a:r>
            <a:r>
              <a:rPr lang="en-IN" sz="4000" dirty="0"/>
              <a:t>Enhancing Arithmetic &amp; Logic in Small Language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3477F-180C-DC69-4DC1-CFA9F6D3B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343402"/>
            <a:ext cx="8915399" cy="1126283"/>
          </a:xfrm>
        </p:spPr>
        <p:txBody>
          <a:bodyPr/>
          <a:lstStyle/>
          <a:p>
            <a:r>
              <a:rPr lang="en-IN" dirty="0"/>
              <a:t>Bridging the Gap Between Natural Language and Symbolic Precision.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98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8196-3C3D-222F-3220-838E25C6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272" y="853159"/>
            <a:ext cx="8911687" cy="1280890"/>
          </a:xfrm>
        </p:spPr>
        <p:txBody>
          <a:bodyPr/>
          <a:lstStyle/>
          <a:p>
            <a:r>
              <a:rPr lang="en-IN" dirty="0"/>
              <a:t>The Problem – The "Generalist" Flaw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68FC60-AC06-5D16-76EE-05C17DD7D4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08" y="2417070"/>
            <a:ext cx="78978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Hallucination Trap: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Models are probabilistic next-token predictors. They don't "calculate"; they "guess" the next number.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error rates in multi-step arithmetic and constraint satisfaction problems (e.g., Zebra Puzzles).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"Alignment Tax":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Fine-tuning a model to be "chatty" often degrades its reasoning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&amp; Cost: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Reliance on massive models (GPT-4, Gemini) requires sending sensitive data to the cloud and incurring high API costs.</a:t>
            </a:r>
          </a:p>
        </p:txBody>
      </p:sp>
    </p:spTree>
    <p:extLst>
      <p:ext uri="{BB962C8B-B14F-4D97-AF65-F5344CB8AC3E}">
        <p14:creationId xmlns:p14="http://schemas.microsoft.com/office/powerpoint/2010/main" val="13228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6E801-F8AF-7098-C404-87CD363A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62" y="1509936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/>
              <a:t>Can a SLM perform better than larger models in specific, high-value tasks?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2601-7E19-6A8A-482B-D9261AC7A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462" y="3228974"/>
            <a:ext cx="8915400" cy="3777622"/>
          </a:xfrm>
        </p:spPr>
        <p:txBody>
          <a:bodyPr/>
          <a:lstStyle/>
          <a:p>
            <a:r>
              <a:rPr lang="en-IN" dirty="0"/>
              <a:t>Integrating a Small Language Model (Qwen-4B) with deterministic symbolic tools (Z3 Solver &amp; Python Calculator) to eliminate hallucination in logic and math.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7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B5F7-4261-0BD5-E457-E9AC2C36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174" y="538386"/>
            <a:ext cx="9169401" cy="1280890"/>
          </a:xfrm>
        </p:spPr>
        <p:txBody>
          <a:bodyPr/>
          <a:lstStyle/>
          <a:p>
            <a:r>
              <a:rPr lang="en-IN" dirty="0"/>
              <a:t>The Solution – Neuro-Symbolic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6B53-718B-0BDF-601A-8594F854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174" y="2076450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The Neuro (The Translator):</a:t>
            </a:r>
            <a:r>
              <a:rPr lang="en-IN" dirty="0"/>
              <a:t> A Small Language Model (</a:t>
            </a:r>
            <a:r>
              <a:rPr lang="en-IN" b="1" dirty="0"/>
              <a:t>Qwen-4B</a:t>
            </a:r>
            <a:r>
              <a:rPr lang="en-IN" dirty="0"/>
              <a:t>) handles the linguistic complexity. Its only job is to understand the user's intent and parse it into a structured schema (JSON).</a:t>
            </a:r>
          </a:p>
          <a:p>
            <a:endParaRPr lang="en-IN" dirty="0"/>
          </a:p>
          <a:p>
            <a:r>
              <a:rPr lang="en-IN" b="1" dirty="0"/>
              <a:t>The Symbolic (The Executor):</a:t>
            </a:r>
            <a:r>
              <a:rPr lang="en-IN" dirty="0"/>
              <a:t> Deterministic algorithms handle the actual logic.</a:t>
            </a:r>
          </a:p>
          <a:p>
            <a:pPr lvl="1"/>
            <a:r>
              <a:rPr lang="en-IN" b="1" dirty="0"/>
              <a:t>Math:</a:t>
            </a:r>
            <a:r>
              <a:rPr lang="en-IN" dirty="0"/>
              <a:t> A Python </a:t>
            </a:r>
            <a:r>
              <a:rPr lang="en-IN" dirty="0" err="1"/>
              <a:t>SafeEvaluator</a:t>
            </a:r>
            <a:r>
              <a:rPr lang="en-IN" dirty="0"/>
              <a:t> using Abstract Syntax Trees (AST) for arithmetic.</a:t>
            </a:r>
          </a:p>
          <a:p>
            <a:pPr lvl="1"/>
            <a:r>
              <a:rPr lang="en-IN" b="1" dirty="0"/>
              <a:t>Logic:</a:t>
            </a:r>
            <a:r>
              <a:rPr lang="en-IN" dirty="0"/>
              <a:t> The z3-solver for constraint satisfaction problems.</a:t>
            </a:r>
          </a:p>
          <a:p>
            <a:pPr lvl="1"/>
            <a:endParaRPr lang="en-IN" dirty="0"/>
          </a:p>
          <a:p>
            <a:r>
              <a:rPr lang="en-IN" b="1" dirty="0"/>
              <a:t>Key Advantage:</a:t>
            </a:r>
            <a:r>
              <a:rPr lang="en-IN" dirty="0"/>
              <a:t> The LLM never "does the math." It simply sets up the equation for a machine that cannot be wrong.</a:t>
            </a:r>
          </a:p>
        </p:txBody>
      </p:sp>
    </p:spTree>
    <p:extLst>
      <p:ext uri="{BB962C8B-B14F-4D97-AF65-F5344CB8AC3E}">
        <p14:creationId xmlns:p14="http://schemas.microsoft.com/office/powerpoint/2010/main" val="25051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E99-3E9D-2D70-CD81-707E1D07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938" y="800322"/>
            <a:ext cx="8911687" cy="1280890"/>
          </a:xfrm>
        </p:spPr>
        <p:txBody>
          <a:bodyPr/>
          <a:lstStyle/>
          <a:p>
            <a:r>
              <a:rPr lang="en-IN" dirty="0"/>
              <a:t>System Architecture (Model A)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51A4D-BE09-B9E2-4EF8-A9A1AB27E3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9136" y="2081212"/>
            <a:ext cx="1034129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1: The Tool Agent Class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custom Python class that intercepts user queries and manages the conversation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forces the SLM to output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only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stripping away the "fluff".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2: The Logic CSP Solver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complex logic (like the Zebra Puzzle), we don't ask the AI to "think."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ask the AI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constraints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same_house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(Natalie,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Black_Dress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constraints are fed into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z3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 theorem prover, which mathematically guarantees a valid solution or proves none exists.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3: Dynamic Adapter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peft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AutoModelForCausalLM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load a lightweight 4B parameter model on a single T4 GPU.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7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CF70-9EA1-45C1-CAB4-D427EECF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456" y="1051518"/>
            <a:ext cx="8911687" cy="1280890"/>
          </a:xfrm>
        </p:spPr>
        <p:txBody>
          <a:bodyPr>
            <a:noAutofit/>
          </a:bodyPr>
          <a:lstStyle/>
          <a:p>
            <a:r>
              <a:rPr lang="en-US" sz="1600" dirty="0"/>
              <a:t>Prompt- </a:t>
            </a:r>
            <a:r>
              <a:rPr lang="en-IN" sz="1600" dirty="0"/>
              <a:t>Tank A has 120 fish. Tank B has 25 times that. Tank C has 70 × 50 fish. Tank D has 60 × 45 fish. Tank E has 55 × 48 fish. Tank F has 50 × 52 fish. Tank G has 45 × 55 fish. Tank H has 40 × 60 fish. Tank I has 35 × 65 fish. Tank J has 30 × 70 fish. Tank K has 28 × 75 fish. Tank L has 25 × 80 fish. Tank M has 22 × 85 fish. Tank N has 20 × 90 fish. Tank O has 18 × 95 fish. Tank P has 15 × 100 fish. How many fish total?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DB695-C18B-FEA1-742F-96E8BF4A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39263" b="7287"/>
          <a:stretch>
            <a:fillRect/>
          </a:stretch>
        </p:blipFill>
        <p:spPr>
          <a:xfrm>
            <a:off x="417002" y="2628557"/>
            <a:ext cx="4369311" cy="3816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DEC60E-67E8-E834-DAE5-33F10361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94" y="3565150"/>
            <a:ext cx="4972424" cy="194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4D142F-5716-1176-4CC9-55742B1C15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54"/>
          <a:stretch>
            <a:fillRect/>
          </a:stretch>
        </p:blipFill>
        <p:spPr>
          <a:xfrm>
            <a:off x="4843509" y="2628557"/>
            <a:ext cx="2390588" cy="381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9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27692-6AE4-319A-A37D-E8524497C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17" y="561274"/>
            <a:ext cx="5136292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/>
              <a:t>Experimental Design – The Blind Test</a:t>
            </a:r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B83A7-CEE0-22D3-E2D6-C7A7D9CF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17" y="1629812"/>
            <a:ext cx="4422838" cy="407929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1600" dirty="0"/>
              <a:t>To validate our approach, we conducted a blind A/B/C test with users.</a:t>
            </a:r>
          </a:p>
          <a:p>
            <a:pPr>
              <a:lnSpc>
                <a:spcPct val="90000"/>
              </a:lnSpc>
            </a:pPr>
            <a:r>
              <a:rPr lang="en-IN" sz="1600" b="1" dirty="0"/>
              <a:t>The Setup:</a:t>
            </a:r>
            <a:r>
              <a:rPr lang="en-IN" sz="1600" dirty="0"/>
              <a:t> Three identical </a:t>
            </a:r>
            <a:r>
              <a:rPr lang="en-IN" sz="1600" dirty="0" err="1"/>
              <a:t>Gradio</a:t>
            </a:r>
            <a:r>
              <a:rPr lang="en-IN" sz="1600" dirty="0"/>
              <a:t> interfaces. Users did not know which model was which.</a:t>
            </a:r>
          </a:p>
          <a:p>
            <a:pPr>
              <a:lnSpc>
                <a:spcPct val="90000"/>
              </a:lnSpc>
            </a:pPr>
            <a:r>
              <a:rPr lang="en-IN" sz="1600" b="1" dirty="0"/>
              <a:t>The Lineup:</a:t>
            </a:r>
            <a:endParaRPr lang="en-IN" sz="1600" dirty="0"/>
          </a:p>
          <a:p>
            <a:pPr lvl="1">
              <a:lnSpc>
                <a:spcPct val="90000"/>
              </a:lnSpc>
            </a:pPr>
            <a:r>
              <a:rPr lang="en-IN" b="1" dirty="0"/>
              <a:t>Model A (Ours):</a:t>
            </a:r>
            <a:r>
              <a:rPr lang="en-IN" dirty="0"/>
              <a:t> Local </a:t>
            </a:r>
            <a:r>
              <a:rPr lang="en-IN" b="1" dirty="0"/>
              <a:t>Qwen-4B (T4 GPU) + Z3 Solver</a:t>
            </a:r>
            <a:r>
              <a:rPr lang="en-IN" dirty="0"/>
              <a:t>. (The Neuro-Symbolic Agent).</a:t>
            </a:r>
          </a:p>
          <a:p>
            <a:pPr lvl="1">
              <a:lnSpc>
                <a:spcPct val="90000"/>
              </a:lnSpc>
            </a:pPr>
            <a:r>
              <a:rPr lang="en-IN" b="1" dirty="0"/>
              <a:t>Model B (Baseline):</a:t>
            </a:r>
            <a:r>
              <a:rPr lang="en-IN" dirty="0"/>
              <a:t> </a:t>
            </a:r>
            <a:r>
              <a:rPr lang="en-IN" b="1" dirty="0"/>
              <a:t>Base Qwen</a:t>
            </a:r>
            <a:r>
              <a:rPr lang="en-IN" dirty="0"/>
              <a:t> (via API). A raw SLM with no tools. Represents the "standard" local AI experience.</a:t>
            </a:r>
          </a:p>
          <a:p>
            <a:pPr lvl="1">
              <a:lnSpc>
                <a:spcPct val="90000"/>
              </a:lnSpc>
            </a:pPr>
            <a:r>
              <a:rPr lang="en-IN" b="1" dirty="0"/>
              <a:t>Model C (Reference):</a:t>
            </a:r>
            <a:r>
              <a:rPr lang="en-IN" dirty="0"/>
              <a:t> </a:t>
            </a:r>
            <a:r>
              <a:rPr lang="en-IN" b="1" dirty="0"/>
              <a:t>Qwen-2.5-72B</a:t>
            </a:r>
            <a:r>
              <a:rPr lang="en-IN" dirty="0"/>
              <a:t> (via API). A massive state-of-the-art model. Represents the "Gold Standard" upper bound.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13398A-B710-7284-BF9F-D93F08E11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847" y="55136"/>
            <a:ext cx="6304308" cy="2222268"/>
          </a:xfrm>
          <a:prstGeom prst="rect">
            <a:avLst/>
          </a:prstGeom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C95DA-1257-5B80-B182-C677FDC2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847" y="2327342"/>
            <a:ext cx="6313264" cy="222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EF5F85-23C6-969C-D6E2-BFFDFF937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847" y="4628791"/>
            <a:ext cx="6313264" cy="21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8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28D1-3EDC-E72D-5E21-5F9F255F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882295-BDE4-A876-1E1F-846824617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6E1D34F-5618-25B5-421B-126F7076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B54930-E620-E20C-F405-44D0AFE3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385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F136-9DA2-0410-C327-1764791B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Value Proposition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6DB67-9313-605C-2D7F-9B0C8670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363" y="1671638"/>
            <a:ext cx="9747249" cy="423958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Why this matters</a:t>
            </a:r>
            <a:endParaRPr lang="en-IN" dirty="0"/>
          </a:p>
          <a:p>
            <a:r>
              <a:rPr lang="en-IN" b="1" dirty="0"/>
              <a:t>Efficiency:</a:t>
            </a:r>
            <a:r>
              <a:rPr lang="en-IN" dirty="0"/>
              <a:t> We approached "72B-level" accuracy on logic tasks using a </a:t>
            </a:r>
            <a:r>
              <a:rPr lang="en-IN" b="1" dirty="0"/>
              <a:t>4B parameter model</a:t>
            </a:r>
            <a:r>
              <a:rPr lang="en-IN" dirty="0"/>
              <a:t>. This reduces computational requirements by over </a:t>
            </a:r>
            <a:r>
              <a:rPr lang="en-IN" b="1" dirty="0"/>
              <a:t>90%</a:t>
            </a:r>
            <a:r>
              <a:rPr lang="en-IN" dirty="0"/>
              <a:t>.</a:t>
            </a:r>
          </a:p>
          <a:p>
            <a:r>
              <a:rPr lang="en-IN" b="1" dirty="0"/>
              <a:t>Reliability:</a:t>
            </a:r>
            <a:r>
              <a:rPr lang="en-IN" dirty="0"/>
              <a:t> By offloading logic to symbolic tools, we eliminated the "black box" unpredictability of LLMs for these specific tasks.</a:t>
            </a:r>
          </a:p>
          <a:p>
            <a:r>
              <a:rPr lang="en-IN" b="1" dirty="0"/>
              <a:t>Privacy:</a:t>
            </a:r>
            <a:r>
              <a:rPr lang="en-IN" dirty="0"/>
              <a:t> This entire architecture runs locally on a standard GPU (</a:t>
            </a:r>
            <a:r>
              <a:rPr lang="en-IN" dirty="0" err="1"/>
              <a:t>Colab</a:t>
            </a:r>
            <a:r>
              <a:rPr lang="en-IN" dirty="0"/>
              <a:t> T4), proving that enterprises can deploy </a:t>
            </a:r>
            <a:r>
              <a:rPr lang="en-IN" b="1" dirty="0"/>
              <a:t>Subject Matter Expert AIs</a:t>
            </a:r>
            <a:r>
              <a:rPr lang="en-IN" dirty="0"/>
              <a:t> without exposing proprietary data to public APIs.</a:t>
            </a:r>
          </a:p>
          <a:p>
            <a:r>
              <a:rPr lang="en-IN" b="1" dirty="0"/>
              <a:t>Explainability:</a:t>
            </a:r>
            <a:r>
              <a:rPr lang="en-IN" dirty="0"/>
              <a:t> The tool use paradigm segments the process of “reasoning” by outsourcing heavy logic tasks to concrete code that can inspected and validated</a:t>
            </a:r>
            <a:endParaRPr lang="en-IN" b="1" dirty="0"/>
          </a:p>
          <a:p>
            <a:r>
              <a:rPr lang="en-IN" b="1" dirty="0"/>
              <a:t>Final Takeaway:</a:t>
            </a:r>
            <a:r>
              <a:rPr lang="en-IN" dirty="0"/>
              <a:t> The future of specialized AI isn't just bigger models; it's smarter architectures that combine the flexibility of language models with the certainty of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77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511</TotalTime>
  <Words>789</Words>
  <Application>Microsoft Macintosh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Unicode MS</vt:lpstr>
      <vt:lpstr>Arial</vt:lpstr>
      <vt:lpstr>Century Gothic</vt:lpstr>
      <vt:lpstr>Wingdings 3</vt:lpstr>
      <vt:lpstr>Wisp</vt:lpstr>
      <vt:lpstr>The Dynamic Neuro-Symbolic Agent: Enhancing Arithmetic &amp; Logic in Small Language Models</vt:lpstr>
      <vt:lpstr>The Problem – The "Generalist" Flaw</vt:lpstr>
      <vt:lpstr>Can a SLM perform better than larger models in specific, high-value tasks?</vt:lpstr>
      <vt:lpstr>The Solution – Neuro-Symbolic Architecture</vt:lpstr>
      <vt:lpstr>System Architecture (Model A)</vt:lpstr>
      <vt:lpstr>Prompt- Tank A has 120 fish. Tank B has 25 times that. Tank C has 70 × 50 fish. Tank D has 60 × 45 fish. Tank E has 55 × 48 fish. Tank F has 50 × 52 fish. Tank G has 45 × 55 fish. Tank H has 40 × 60 fish. Tank I has 35 × 65 fish. Tank J has 30 × 70 fish. Tank K has 28 × 75 fish. Tank L has 25 × 80 fish. Tank M has 22 × 85 fish. Tank N has 20 × 90 fish. Tank O has 18 × 95 fish. Tank P has 15 × 100 fish. How many fish total?</vt:lpstr>
      <vt:lpstr>Experimental Design – The Blind Test</vt:lpstr>
      <vt:lpstr>PowerPoint Presentation</vt:lpstr>
      <vt:lpstr>Conclusion &amp; Value Proposition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Patil, Om Nitin</dc:creator>
  <cp:lastModifiedBy>Patil, Om Nitin</cp:lastModifiedBy>
  <cp:revision>2</cp:revision>
  <dcterms:created xsi:type="dcterms:W3CDTF">2025-12-11T16:33:31Z</dcterms:created>
  <dcterms:modified xsi:type="dcterms:W3CDTF">2025-12-12T21:37:27Z</dcterms:modified>
</cp:coreProperties>
</file>